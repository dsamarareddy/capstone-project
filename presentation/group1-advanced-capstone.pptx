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98ab7de1-09ce-6a17-1d25-0d5bb1a464bc}">
          <p14:sldIdLst>
            <p14:sldId id="256"/>
            <p14:sldId id="257"/>
            <p14:sldId id="258"/>
          </p14:sldIdLst>
        </p14:section>
        <p14:section name="Platform" id="{7430e2d5-329d-2f76-d4bc-b91191f5a4eb}">
          <p14:sldIdLst>
            <p14:sldId id="259"/>
            <p14:sldId id="260"/>
          </p14:sldIdLst>
        </p14:section>
        <p14:section name="Reference application" id="{02d3fc5b-941a-aa60-b088-20eecfd35f3d}">
          <p14:sldIdLst>
            <p14:sldId id="261"/>
          </p14:sldIdLst>
        </p14:section>
        <p14:section name="Delivery &amp; security" id="{48aa53e8-f72a-da4e-b8f9-f61c371a357d}">
          <p14:sldIdLst>
            <p14:sldId id="262"/>
            <p14:sldId id="263"/>
            <p14:sldId id="264"/>
          </p14:sldIdLst>
        </p14:section>
        <p14:section name="Developer experience" id="{6764e92a-482b-3f13-40dc-fa57311cf2a9}">
          <p14:sldIdLst>
            <p14:sldId id="265"/>
            <p14:sldId id="266"/>
          </p14:sldIdLst>
        </p14:section>
        <p14:section name="Specs &amp; decisions" id="{4fb3fa6f-53e9-1084-4037-544f57f4b978}">
          <p14:sldIdLst>
            <p14:sldId id="267"/>
            <p14:sldId id="268"/>
          </p14:sldIdLst>
        </p14:section>
        <p14:section name="Results" id="{2e5dc27c-127f-d9d4-9710-45d599e7bd36}">
          <p14:sldIdLst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Acme Retail Ltd. modernization program. We turned a one-off IMS build into a reusable Internal Developer Platform any team can onboard onto.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six problems come directly from the capstone brief. Every platform component maps back to at least one of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31720"/>
            <a:ext cx="78638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4160520"/>
            <a:ext cx="78638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024128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pic>
        <p:nvPicPr>
          <p:cNvPr id="3" name="Image 0" descr="C:\Users\samarashima.reddy\Downloads\Vinay-Capstone\app\ims\app\static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0" y="384048"/>
            <a:ext cx="548640" cy="5486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Inventory Management System  |  Internal Developer Platform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C:\Users\samarashima.reddy\Downloads\Vinay-Capstone\app\ims\app\static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822960"/>
            <a:ext cx="1143000" cy="1143000"/>
          </a:xfrm>
          <a:prstGeom prst="ellipse">
            <a:avLst/>
          </a:prstGeom>
        </p:spPr>
      </p:pic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331720"/>
            <a:ext cx="78638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 Management System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Developer Platform</a:t>
            </a:r>
            <a:endParaRPr lang="en-US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416052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AI-Driven Cloud &amp; DevSecOps Capstone  ·  group1-advanced  ·  Role: Platform Engineer</a:t>
            </a:r>
            <a:endParaRPr lang="en-US" sz="1800" dirty="0"/>
          </a:p>
        </p:txBody>
      </p:sp>
      <p:sp>
        <p:nvSpPr>
          <p:cNvPr id="5" name="deco-circle"/>
          <p:cNvSpPr/>
          <p:nvPr/>
        </p:nvSpPr>
        <p:spPr>
          <a:xfrm>
            <a:off x="8778240" y="1097280"/>
            <a:ext cx="4754880" cy="475488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6" name="hero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2286000"/>
            <a:ext cx="2194560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problems slowing every Acme Retail team</a:t>
            </a:r>
            <a:endParaRPr lang="en-US" sz="32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10515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The IMS was ready to ship, but how teams build and ship code was inconsistent, manual and hard to scale</a:t>
            </a:r>
            <a:endParaRPr lang="en-US" sz="1600" dirty="0"/>
          </a:p>
        </p:txBody>
      </p:sp>
      <p:sp>
        <p:nvSpPr>
          <p:cNvPr id="4" name="card"/>
          <p:cNvSpPr/>
          <p:nvPr/>
        </p:nvSpPr>
        <p:spPr>
          <a:xfrm>
            <a:off x="548640" y="1783080"/>
            <a:ext cx="347472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icon-circle"/>
          <p:cNvSpPr/>
          <p:nvPr/>
        </p:nvSpPr>
        <p:spPr>
          <a:xfrm>
            <a:off x="822960" y="2057400"/>
            <a:ext cx="685800" cy="685800"/>
          </a:xfrm>
          <a:prstGeom prst="ellipse">
            <a:avLst/>
          </a:prstGeom>
          <a:solidFill>
            <a:srgbClr val="E8562A"/>
          </a:solidFill>
          <a:ln w="12700">
            <a:solidFill>
              <a:srgbClr val="E8562A"/>
            </a:solidFill>
            <a:prstDash val="solid"/>
          </a:ln>
        </p:spPr>
      </p:sp>
      <p:pic>
        <p:nvPicPr>
          <p:cNvPr id="6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410" y="2228850"/>
            <a:ext cx="342900" cy="3429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834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Duplicate pipelines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2004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Every team hand-writes its own CI/CD YAML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4297680" y="1783080"/>
            <a:ext cx="347472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icon-circle"/>
          <p:cNvSpPr/>
          <p:nvPr/>
        </p:nvSpPr>
        <p:spPr>
          <a:xfrm>
            <a:off x="4572000" y="2057400"/>
            <a:ext cx="685800" cy="685800"/>
          </a:xfrm>
          <a:prstGeom prst="ellipse">
            <a:avLst/>
          </a:prstGeom>
          <a:solidFill>
            <a:srgbClr val="E8562A"/>
          </a:solidFill>
          <a:ln w="12700">
            <a:solidFill>
              <a:srgbClr val="E8562A"/>
            </a:solidFill>
            <a:prstDash val="solid"/>
          </a:ln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3450" y="2228850"/>
            <a:ext cx="342900" cy="3429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72000" y="2834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Duplicate Terraform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32004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VPC, ECS and RDS code copied repo to repo</a:t>
            </a:r>
            <a:endParaRPr lang="en-US" sz="1400" dirty="0"/>
          </a:p>
        </p:txBody>
      </p:sp>
      <p:sp>
        <p:nvSpPr>
          <p:cNvPr id="14" name="card"/>
          <p:cNvSpPr/>
          <p:nvPr/>
        </p:nvSpPr>
        <p:spPr>
          <a:xfrm>
            <a:off x="8046720" y="1783080"/>
            <a:ext cx="347472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icon-circle"/>
          <p:cNvSpPr/>
          <p:nvPr/>
        </p:nvSpPr>
        <p:spPr>
          <a:xfrm>
            <a:off x="8321040" y="2057400"/>
            <a:ext cx="685800" cy="685800"/>
          </a:xfrm>
          <a:prstGeom prst="ellipse">
            <a:avLst/>
          </a:prstGeom>
          <a:solidFill>
            <a:srgbClr val="E8562A"/>
          </a:solidFill>
          <a:ln w="12700">
            <a:solidFill>
              <a:srgbClr val="E8562A"/>
            </a:solidFill>
            <a:prstDash val="solid"/>
          </a:ln>
        </p:spPr>
      </p:sp>
      <p:pic>
        <p:nvPicPr>
          <p:cNvPr id="16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2490" y="2228850"/>
            <a:ext cx="342900" cy="3429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21040" y="2834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Different repo layouts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8321040" y="32004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No shared structure, so every repo must be learned anew</a:t>
            </a:r>
            <a:endParaRPr lang="en-US" sz="1400" dirty="0"/>
          </a:p>
        </p:txBody>
      </p:sp>
      <p:sp>
        <p:nvSpPr>
          <p:cNvPr id="19" name="card"/>
          <p:cNvSpPr/>
          <p:nvPr/>
        </p:nvSpPr>
        <p:spPr>
          <a:xfrm>
            <a:off x="548640" y="3977640"/>
            <a:ext cx="347472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icon-circle"/>
          <p:cNvSpPr/>
          <p:nvPr/>
        </p:nvSpPr>
        <p:spPr>
          <a:xfrm>
            <a:off x="822960" y="4251960"/>
            <a:ext cx="685800" cy="685800"/>
          </a:xfrm>
          <a:prstGeom prst="ellipse">
            <a:avLst/>
          </a:prstGeom>
          <a:solidFill>
            <a:srgbClr val="E8562A"/>
          </a:solidFill>
          <a:ln w="12700">
            <a:solidFill>
              <a:srgbClr val="E8562A"/>
            </a:solidFill>
            <a:prstDash val="solid"/>
          </a:ln>
        </p:spPr>
      </p:sp>
      <p:pic>
        <p:nvPicPr>
          <p:cNvPr id="21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4410" y="4423410"/>
            <a:ext cx="342900" cy="3429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22960" y="5029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Inconsistent AI specs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822960" y="53949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AI agents get different, ad-hoc instructions</a:t>
            </a:r>
            <a:endParaRPr lang="en-US" sz="1400" dirty="0"/>
          </a:p>
        </p:txBody>
      </p:sp>
      <p:sp>
        <p:nvSpPr>
          <p:cNvPr id="24" name="card"/>
          <p:cNvSpPr/>
          <p:nvPr/>
        </p:nvSpPr>
        <p:spPr>
          <a:xfrm>
            <a:off x="4297680" y="3977640"/>
            <a:ext cx="347472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icon-circle"/>
          <p:cNvSpPr/>
          <p:nvPr/>
        </p:nvSpPr>
        <p:spPr>
          <a:xfrm>
            <a:off x="4572000" y="4251960"/>
            <a:ext cx="685800" cy="685800"/>
          </a:xfrm>
          <a:prstGeom prst="ellipse">
            <a:avLst/>
          </a:prstGeom>
          <a:solidFill>
            <a:srgbClr val="E8562A"/>
          </a:solidFill>
          <a:ln w="12700">
            <a:solidFill>
              <a:srgbClr val="E8562A"/>
            </a:solidFill>
            <a:prstDash val="solid"/>
          </a:ln>
        </p:spPr>
      </p:sp>
      <p:pic>
        <p:nvPicPr>
          <p:cNvPr id="26" name="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3450" y="4423410"/>
            <a:ext cx="342900" cy="34290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572000" y="5029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Long onboarding</a:t>
            </a:r>
            <a:endParaRPr lang="en-US" sz="1800" dirty="0"/>
          </a:p>
        </p:txBody>
      </p:sp>
      <p:sp>
        <p:nvSpPr>
          <p:cNvPr id="28" name="Text 21"/>
          <p:cNvSpPr txBox="1"/>
          <p:nvPr/>
        </p:nvSpPr>
        <p:spPr>
          <a:xfrm>
            <a:off x="4572000" y="53949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New services start from a blank page</a:t>
            </a:r>
            <a:endParaRPr lang="en-US" sz="1400" dirty="0"/>
          </a:p>
        </p:txBody>
      </p:sp>
      <p:sp>
        <p:nvSpPr>
          <p:cNvPr id="29" name="card"/>
          <p:cNvSpPr/>
          <p:nvPr/>
        </p:nvSpPr>
        <p:spPr>
          <a:xfrm>
            <a:off x="8046720" y="3977640"/>
            <a:ext cx="347472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icon-circle"/>
          <p:cNvSpPr/>
          <p:nvPr/>
        </p:nvSpPr>
        <p:spPr>
          <a:xfrm>
            <a:off x="8321040" y="4251960"/>
            <a:ext cx="685800" cy="685800"/>
          </a:xfrm>
          <a:prstGeom prst="ellipse">
            <a:avLst/>
          </a:prstGeom>
          <a:solidFill>
            <a:srgbClr val="E8562A"/>
          </a:solidFill>
          <a:ln w="12700">
            <a:solidFill>
              <a:srgbClr val="E8562A"/>
            </a:solidFill>
            <a:prstDash val="solid"/>
          </a:ln>
        </p:spPr>
      </p:sp>
      <p:pic>
        <p:nvPicPr>
          <p:cNvPr id="31" name="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2490" y="4423410"/>
            <a:ext cx="342900" cy="34290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321040" y="5029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High maintenance</a:t>
            </a:r>
            <a:endParaRPr lang="en-US" sz="1800" dirty="0"/>
          </a:p>
        </p:txBody>
      </p:sp>
      <p:sp>
        <p:nvSpPr>
          <p:cNvPr id="33" name="Text 25"/>
          <p:cNvSpPr txBox="1"/>
          <p:nvPr/>
        </p:nvSpPr>
        <p:spPr>
          <a:xfrm>
            <a:off x="8321040" y="53949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Fixes must be repeated in every copy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Spec-first, AI-assisted engineering workflow</a:t>
            </a:r>
            <a:endParaRPr lang="en-US" sz="32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10515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AI Engineering Specifications are the primary artifact: AI agents generate from them, engineers validate</a:t>
            </a:r>
            <a:endParaRPr lang="en-US" sz="1600" dirty="0"/>
          </a:p>
        </p:txBody>
      </p:sp>
      <p:sp>
        <p:nvSpPr>
          <p:cNvPr id="4" name="step-dot"/>
          <p:cNvSpPr/>
          <p:nvPr/>
        </p:nvSpPr>
        <p:spPr>
          <a:xfrm>
            <a:off x="1051560" y="2103120"/>
            <a:ext cx="822960" cy="82296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2103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1</a:t>
            </a:r>
            <a:endParaRPr lang="en-US" sz="2400" dirty="0"/>
          </a:p>
        </p:txBody>
      </p:sp>
      <p:sp>
        <p:nvSpPr>
          <p:cNvPr id="6" name="arrow"/>
          <p:cNvSpPr/>
          <p:nvPr/>
        </p:nvSpPr>
        <p:spPr>
          <a:xfrm>
            <a:off x="1965960" y="2514600"/>
            <a:ext cx="868680" cy="914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7" name="Text 5"/>
          <p:cNvSpPr txBox="1"/>
          <p:nvPr/>
        </p:nvSpPr>
        <p:spPr>
          <a:xfrm>
            <a:off x="548640" y="31089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Understand the business problem</a:t>
            </a:r>
            <a:endParaRPr lang="en-US" sz="1500" dirty="0"/>
          </a:p>
        </p:txBody>
      </p:sp>
      <p:sp>
        <p:nvSpPr>
          <p:cNvPr id="8" name="step-dot"/>
          <p:cNvSpPr/>
          <p:nvPr/>
        </p:nvSpPr>
        <p:spPr>
          <a:xfrm>
            <a:off x="2926080" y="2103120"/>
            <a:ext cx="822960" cy="82296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26080" y="2103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2</a:t>
            </a:r>
            <a:endParaRPr lang="en-US" sz="2400" dirty="0"/>
          </a:p>
        </p:txBody>
      </p:sp>
      <p:sp>
        <p:nvSpPr>
          <p:cNvPr id="10" name="arrow"/>
          <p:cNvSpPr/>
          <p:nvPr/>
        </p:nvSpPr>
        <p:spPr>
          <a:xfrm>
            <a:off x="3840480" y="2514600"/>
            <a:ext cx="868680" cy="914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2423160" y="31089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Split into engineering domains</a:t>
            </a:r>
            <a:endParaRPr lang="en-US" sz="1500" dirty="0"/>
          </a:p>
        </p:txBody>
      </p:sp>
      <p:sp>
        <p:nvSpPr>
          <p:cNvPr id="12" name="step-dot"/>
          <p:cNvSpPr/>
          <p:nvPr/>
        </p:nvSpPr>
        <p:spPr>
          <a:xfrm>
            <a:off x="4800600" y="2103120"/>
            <a:ext cx="822960" cy="822960"/>
          </a:xfrm>
          <a:prstGeom prst="ellipse">
            <a:avLst/>
          </a:prstGeom>
          <a:solidFill>
            <a:srgbClr val="E8562A"/>
          </a:solidFill>
          <a:ln w="12700">
            <a:solidFill>
              <a:srgbClr val="E8562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00600" y="2103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3</a:t>
            </a:r>
            <a:endParaRPr lang="en-US" sz="2400" dirty="0"/>
          </a:p>
        </p:txBody>
      </p:sp>
      <p:sp>
        <p:nvSpPr>
          <p:cNvPr id="14" name="arrow"/>
          <p:cNvSpPr/>
          <p:nvPr/>
        </p:nvSpPr>
        <p:spPr>
          <a:xfrm>
            <a:off x="5715000" y="2514600"/>
            <a:ext cx="868680" cy="914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4297680" y="31089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Write the AI Engineering Specs</a:t>
            </a:r>
            <a:endParaRPr lang="en-US" sz="1500" dirty="0"/>
          </a:p>
        </p:txBody>
      </p:sp>
      <p:sp>
        <p:nvSpPr>
          <p:cNvPr id="16" name="step-dot"/>
          <p:cNvSpPr/>
          <p:nvPr/>
        </p:nvSpPr>
        <p:spPr>
          <a:xfrm>
            <a:off x="6675120" y="2103120"/>
            <a:ext cx="822960" cy="82296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75120" y="2103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4</a:t>
            </a:r>
            <a:endParaRPr lang="en-US" sz="2400" dirty="0"/>
          </a:p>
        </p:txBody>
      </p:sp>
      <p:sp>
        <p:nvSpPr>
          <p:cNvPr id="18" name="arrow"/>
          <p:cNvSpPr/>
          <p:nvPr/>
        </p:nvSpPr>
        <p:spPr>
          <a:xfrm>
            <a:off x="7589520" y="2514600"/>
            <a:ext cx="868680" cy="914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6172200" y="31089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Generate with an AI coding agent</a:t>
            </a:r>
            <a:endParaRPr lang="en-US" sz="1500" dirty="0"/>
          </a:p>
        </p:txBody>
      </p:sp>
      <p:sp>
        <p:nvSpPr>
          <p:cNvPr id="20" name="step-dot"/>
          <p:cNvSpPr/>
          <p:nvPr/>
        </p:nvSpPr>
        <p:spPr>
          <a:xfrm>
            <a:off x="8549640" y="2103120"/>
            <a:ext cx="822960" cy="82296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549640" y="2103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5</a:t>
            </a:r>
            <a:endParaRPr lang="en-US" sz="2400" dirty="0"/>
          </a:p>
        </p:txBody>
      </p:sp>
      <p:sp>
        <p:nvSpPr>
          <p:cNvPr id="22" name="arrow"/>
          <p:cNvSpPr/>
          <p:nvPr/>
        </p:nvSpPr>
        <p:spPr>
          <a:xfrm>
            <a:off x="9464040" y="2514600"/>
            <a:ext cx="868680" cy="914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8046720" y="31089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Review, refactor and secure</a:t>
            </a:r>
            <a:endParaRPr lang="en-US" sz="1500" dirty="0"/>
          </a:p>
        </p:txBody>
      </p:sp>
      <p:sp>
        <p:nvSpPr>
          <p:cNvPr id="24" name="step-dot"/>
          <p:cNvSpPr/>
          <p:nvPr/>
        </p:nvSpPr>
        <p:spPr>
          <a:xfrm>
            <a:off x="10424160" y="2103120"/>
            <a:ext cx="822960" cy="82296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424160" y="2103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6</a:t>
            </a:r>
            <a:endParaRPr lang="en-US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9921240" y="31089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Test, document and package</a:t>
            </a:r>
            <a:endParaRPr lang="en-US" sz="1500" dirty="0"/>
          </a:p>
        </p:txBody>
      </p:sp>
      <p:sp>
        <p:nvSpPr>
          <p:cNvPr id="27" name="card"/>
          <p:cNvSpPr/>
          <p:nvPr/>
        </p:nvSpPr>
        <p:spPr>
          <a:xfrm>
            <a:off x="548640" y="4343400"/>
            <a:ext cx="1106424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icon-circle"/>
          <p:cNvSpPr/>
          <p:nvPr/>
        </p:nvSpPr>
        <p:spPr>
          <a:xfrm>
            <a:off x="868680" y="4709160"/>
            <a:ext cx="914400" cy="914400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  <a:prstDash val="solid"/>
          </a:ln>
        </p:spPr>
      </p:sp>
      <p:pic>
        <p:nvPicPr>
          <p:cNvPr id="29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4937760"/>
            <a:ext cx="457200" cy="457200"/>
          </a:xfrm>
          <a:prstGeom prst="rect">
            <a:avLst/>
          </a:prstGeom>
        </p:spPr>
      </p:pic>
      <p:sp>
        <p:nvSpPr>
          <p:cNvPr id="30" name="Text 27"/>
          <p:cNvSpPr txBox="1"/>
          <p:nvPr/>
        </p:nvSpPr>
        <p:spPr>
          <a:xfrm>
            <a:off x="2057400" y="4526280"/>
            <a:ext cx="9326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Validated, not just generated. </a:t>
            </a:r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Every AI-generated artifact went through tests, linting, YAML parsing and security scans before it was accepted. Real Trivy findings from CI were caught and fixed this way (recorded in ADR-0004).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platform repo, reused by every team</a:t>
            </a:r>
            <a:endParaRPr lang="en-US" sz="32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10515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Six reusable building blocks replace per-team copies</a:t>
            </a:r>
            <a:endParaRPr lang="en-US" sz="1600" dirty="0"/>
          </a:p>
        </p:txBody>
      </p:sp>
      <p:sp>
        <p:nvSpPr>
          <p:cNvPr id="4" name="card"/>
          <p:cNvSpPr/>
          <p:nvPr/>
        </p:nvSpPr>
        <p:spPr>
          <a:xfrm>
            <a:off x="548640" y="1691640"/>
            <a:ext cx="534924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icon-circle"/>
          <p:cNvSpPr/>
          <p:nvPr/>
        </p:nvSpPr>
        <p:spPr>
          <a:xfrm>
            <a:off x="777240" y="1965960"/>
            <a:ext cx="777240" cy="777240"/>
          </a:xfrm>
          <a:prstGeom prst="ellipse">
            <a:avLst/>
          </a:prstGeom>
          <a:solidFill>
            <a:srgbClr val="E8562A"/>
          </a:solidFill>
          <a:ln w="12700">
            <a:solidFill>
              <a:srgbClr val="E8562A"/>
            </a:solidFill>
            <a:prstDash val="solid"/>
          </a:ln>
        </p:spPr>
      </p:sp>
      <p:pic>
        <p:nvPicPr>
          <p:cNvPr id="6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2160270"/>
            <a:ext cx="388620" cy="3886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83080" y="185623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Reusable workflows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783080" y="226771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CI, security scan and Terraform workflows called via workflow_call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6126480" y="1691640"/>
            <a:ext cx="534924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icon-circle"/>
          <p:cNvSpPr/>
          <p:nvPr/>
        </p:nvSpPr>
        <p:spPr>
          <a:xfrm>
            <a:off x="6355080" y="1965960"/>
            <a:ext cx="777240" cy="777240"/>
          </a:xfrm>
          <a:prstGeom prst="ellipse">
            <a:avLst/>
          </a:prstGeom>
          <a:solidFill>
            <a:srgbClr val="0F9D8F"/>
          </a:solidFill>
          <a:ln w="12700">
            <a:solidFill>
              <a:srgbClr val="0F9D8F"/>
            </a:solidFill>
            <a:prstDash val="solid"/>
          </a:ln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9390" y="2160270"/>
            <a:ext cx="388620" cy="3886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360920" y="185623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Terraform modules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7360920" y="226771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networking, ecr, ecs-fargate-service, rds-postgres, s3-bucket, iam-app-role</a:t>
            </a:r>
            <a:endParaRPr lang="en-US" sz="1400" dirty="0"/>
          </a:p>
        </p:txBody>
      </p:sp>
      <p:sp>
        <p:nvSpPr>
          <p:cNvPr id="14" name="card"/>
          <p:cNvSpPr/>
          <p:nvPr/>
        </p:nvSpPr>
        <p:spPr>
          <a:xfrm>
            <a:off x="548640" y="3200400"/>
            <a:ext cx="534924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icon-circle"/>
          <p:cNvSpPr/>
          <p:nvPr/>
        </p:nvSpPr>
        <p:spPr>
          <a:xfrm>
            <a:off x="777240" y="3474720"/>
            <a:ext cx="777240" cy="77724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16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" y="3669030"/>
            <a:ext cx="388620" cy="3886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783080" y="336499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Repo template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1783080" y="377647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Flask skeleton, caller workflows, infra and spec stubs ready to fill</a:t>
            </a:r>
            <a:endParaRPr lang="en-US" sz="1400" dirty="0"/>
          </a:p>
        </p:txBody>
      </p:sp>
      <p:sp>
        <p:nvSpPr>
          <p:cNvPr id="19" name="card"/>
          <p:cNvSpPr/>
          <p:nvPr/>
        </p:nvSpPr>
        <p:spPr>
          <a:xfrm>
            <a:off x="6126480" y="3200400"/>
            <a:ext cx="534924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icon-circle"/>
          <p:cNvSpPr/>
          <p:nvPr/>
        </p:nvSpPr>
        <p:spPr>
          <a:xfrm>
            <a:off x="6355080" y="3474720"/>
            <a:ext cx="777240" cy="777240"/>
          </a:xfrm>
          <a:prstGeom prst="ellipse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pic>
        <p:nvPicPr>
          <p:cNvPr id="21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9390" y="3669030"/>
            <a:ext cx="388620" cy="38862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360920" y="336499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Governance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7360920" y="377647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CODEOWNERS, PR template, SECURITY.md and gated security scans</a:t>
            </a:r>
            <a:endParaRPr lang="en-US" sz="1400" dirty="0"/>
          </a:p>
        </p:txBody>
      </p:sp>
      <p:sp>
        <p:nvSpPr>
          <p:cNvPr id="24" name="card"/>
          <p:cNvSpPr/>
          <p:nvPr/>
        </p:nvSpPr>
        <p:spPr>
          <a:xfrm>
            <a:off x="548640" y="4709160"/>
            <a:ext cx="534924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icon-circle"/>
          <p:cNvSpPr/>
          <p:nvPr/>
        </p:nvSpPr>
        <p:spPr>
          <a:xfrm>
            <a:off x="777240" y="4983480"/>
            <a:ext cx="777240" cy="77724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26" name="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" y="5177790"/>
            <a:ext cx="388620" cy="38862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783080" y="487375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Self-service CLI</a:t>
            </a:r>
            <a:endParaRPr lang="en-US" sz="1800" dirty="0"/>
          </a:p>
        </p:txBody>
      </p:sp>
      <p:sp>
        <p:nvSpPr>
          <p:cNvPr id="28" name="Text 21"/>
          <p:cNvSpPr txBox="1"/>
          <p:nvPr/>
        </p:nvSpPr>
        <p:spPr>
          <a:xfrm>
            <a:off x="1783080" y="528523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idp: scaffold, bootstrap, test, run, scan and validate in one tool</a:t>
            </a:r>
            <a:endParaRPr lang="en-US" sz="1400" dirty="0"/>
          </a:p>
        </p:txBody>
      </p:sp>
      <p:sp>
        <p:nvSpPr>
          <p:cNvPr id="29" name="card"/>
          <p:cNvSpPr/>
          <p:nvPr/>
        </p:nvSpPr>
        <p:spPr>
          <a:xfrm>
            <a:off x="6126480" y="4709160"/>
            <a:ext cx="534924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icon-circle"/>
          <p:cNvSpPr/>
          <p:nvPr/>
        </p:nvSpPr>
        <p:spPr>
          <a:xfrm>
            <a:off x="6355080" y="4983480"/>
            <a:ext cx="777240" cy="77724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pic>
        <p:nvPicPr>
          <p:cNvPr id="31" name="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9390" y="5177790"/>
            <a:ext cx="388620" cy="38862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7360920" y="487375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AI Engineering Specs</a:t>
            </a:r>
            <a:endParaRPr lang="en-US" sz="1800" dirty="0"/>
          </a:p>
        </p:txBody>
      </p:sp>
      <p:sp>
        <p:nvSpPr>
          <p:cNvPr id="33" name="Text 25"/>
          <p:cNvSpPr txBox="1"/>
          <p:nvPr/>
        </p:nvSpPr>
        <p:spPr>
          <a:xfrm>
            <a:off x="7360920" y="528523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6 standard specs: the single source of truth for AI agents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architecture: build once, reuse everywhere</a:t>
            </a:r>
            <a:endParaRPr lang="en-US" sz="32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10515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App teams keep only their code and a few lines of config; everything else is referenced from the platform</a:t>
            </a:r>
            <a:endParaRPr lang="en-US" sz="1600" dirty="0"/>
          </a:p>
        </p:txBody>
      </p:sp>
      <p:sp>
        <p:nvSpPr>
          <p:cNvPr id="4" name="platform-bg"/>
          <p:cNvSpPr/>
          <p:nvPr/>
        </p:nvSpPr>
        <p:spPr>
          <a:xfrm>
            <a:off x="548640" y="1737360"/>
            <a:ext cx="3840480" cy="4297680"/>
          </a:xfrm>
          <a:prstGeom prst="roundRect">
            <a:avLst>
              <a:gd name="adj" fmla="val 1905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platform-bg-text"/>
          <p:cNvSpPr txBox="1"/>
          <p:nvPr/>
        </p:nvSpPr>
        <p:spPr>
          <a:xfrm>
            <a:off x="548640" y="1737360"/>
            <a:ext cx="3840480" cy="4297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8288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Platform repo (group1-advanced)</a:t>
            </a:r>
            <a:endParaRPr lang="en-US" sz="1500" dirty="0"/>
          </a:p>
        </p:txBody>
      </p:sp>
      <p:sp>
        <p:nvSpPr>
          <p:cNvPr id="7" name="plat-0"/>
          <p:cNvSpPr/>
          <p:nvPr/>
        </p:nvSpPr>
        <p:spPr>
          <a:xfrm>
            <a:off x="777240" y="2331720"/>
            <a:ext cx="3383280" cy="566928"/>
          </a:xfrm>
          <a:prstGeom prst="roundRect">
            <a:avLst>
              <a:gd name="adj" fmla="val 12903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plat-0-text"/>
          <p:cNvSpPr txBox="1"/>
          <p:nvPr/>
        </p:nvSpPr>
        <p:spPr>
          <a:xfrm>
            <a:off x="777240" y="2331720"/>
            <a:ext cx="338328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Reusable GitHub workflows</a:t>
            </a:r>
            <a:endParaRPr lang="en-US" sz="1400" dirty="0"/>
          </a:p>
        </p:txBody>
      </p:sp>
      <p:sp>
        <p:nvSpPr>
          <p:cNvPr id="9" name="plat-1"/>
          <p:cNvSpPr/>
          <p:nvPr/>
        </p:nvSpPr>
        <p:spPr>
          <a:xfrm>
            <a:off x="777240" y="3044952"/>
            <a:ext cx="3383280" cy="566928"/>
          </a:xfrm>
          <a:prstGeom prst="roundRect">
            <a:avLst>
              <a:gd name="adj" fmla="val 12903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0" name="plat-1-text"/>
          <p:cNvSpPr txBox="1"/>
          <p:nvPr/>
        </p:nvSpPr>
        <p:spPr>
          <a:xfrm>
            <a:off x="777240" y="3044952"/>
            <a:ext cx="338328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Terraform modules</a:t>
            </a:r>
            <a:endParaRPr lang="en-US" sz="1400" dirty="0"/>
          </a:p>
        </p:txBody>
      </p:sp>
      <p:sp>
        <p:nvSpPr>
          <p:cNvPr id="11" name="plat-2"/>
          <p:cNvSpPr/>
          <p:nvPr/>
        </p:nvSpPr>
        <p:spPr>
          <a:xfrm>
            <a:off x="777240" y="3758184"/>
            <a:ext cx="3383280" cy="566928"/>
          </a:xfrm>
          <a:prstGeom prst="roundRect">
            <a:avLst>
              <a:gd name="adj" fmla="val 12903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2" name="plat-2-text"/>
          <p:cNvSpPr txBox="1"/>
          <p:nvPr/>
        </p:nvSpPr>
        <p:spPr>
          <a:xfrm>
            <a:off x="777240" y="3758184"/>
            <a:ext cx="338328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Service repo template</a:t>
            </a:r>
            <a:endParaRPr lang="en-US" sz="1400" dirty="0"/>
          </a:p>
        </p:txBody>
      </p:sp>
      <p:sp>
        <p:nvSpPr>
          <p:cNvPr id="13" name="plat-3"/>
          <p:cNvSpPr/>
          <p:nvPr/>
        </p:nvSpPr>
        <p:spPr>
          <a:xfrm>
            <a:off x="777240" y="4471416"/>
            <a:ext cx="3383280" cy="566928"/>
          </a:xfrm>
          <a:prstGeom prst="roundRect">
            <a:avLst>
              <a:gd name="adj" fmla="val 12903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4" name="plat-3-text"/>
          <p:cNvSpPr txBox="1"/>
          <p:nvPr/>
        </p:nvSpPr>
        <p:spPr>
          <a:xfrm>
            <a:off x="777240" y="4471416"/>
            <a:ext cx="338328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Governance standards</a:t>
            </a:r>
            <a:endParaRPr lang="en-US" sz="1400" dirty="0"/>
          </a:p>
        </p:txBody>
      </p:sp>
      <p:sp>
        <p:nvSpPr>
          <p:cNvPr id="15" name="plat-4"/>
          <p:cNvSpPr/>
          <p:nvPr/>
        </p:nvSpPr>
        <p:spPr>
          <a:xfrm>
            <a:off x="777240" y="5184648"/>
            <a:ext cx="3383280" cy="566928"/>
          </a:xfrm>
          <a:prstGeom prst="roundRect">
            <a:avLst>
              <a:gd name="adj" fmla="val 12903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6" name="plat-4-text"/>
          <p:cNvSpPr txBox="1"/>
          <p:nvPr/>
        </p:nvSpPr>
        <p:spPr>
          <a:xfrm>
            <a:off x="777240" y="5184648"/>
            <a:ext cx="338328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idp self-service CLI</a:t>
            </a:r>
            <a:endParaRPr lang="en-US" sz="1400" dirty="0"/>
          </a:p>
        </p:txBody>
      </p:sp>
      <p:sp>
        <p:nvSpPr>
          <p:cNvPr id="17" name="team-0"/>
          <p:cNvSpPr/>
          <p:nvPr/>
        </p:nvSpPr>
        <p:spPr>
          <a:xfrm>
            <a:off x="5669280" y="1828800"/>
            <a:ext cx="2651760" cy="1143000"/>
          </a:xfrm>
          <a:prstGeom prst="roundRect">
            <a:avLst>
              <a:gd name="adj" fmla="val 6400"/>
            </a:avLst>
          </a:prstGeom>
          <a:solidFill>
            <a:srgbClr val="E8562A"/>
          </a:solidFill>
          <a:ln w="12700">
            <a:solidFill>
              <a:srgbClr val="E8562A"/>
            </a:solidFill>
            <a:prstDash val="solid"/>
          </a:ln>
        </p:spPr>
      </p:sp>
      <p:sp>
        <p:nvSpPr>
          <p:cNvPr id="18" name="team-0-text"/>
          <p:cNvSpPr txBox="1"/>
          <p:nvPr/>
        </p:nvSpPr>
        <p:spPr>
          <a:xfrm>
            <a:off x="5669280" y="1828800"/>
            <a:ext cx="265176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IMS team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app/ims</a:t>
            </a:r>
            <a:endParaRPr lang="en-US" sz="1400" dirty="0"/>
          </a:p>
        </p:txBody>
      </p:sp>
      <p:sp>
        <p:nvSpPr>
          <p:cNvPr id="19" name="arrow"/>
          <p:cNvSpPr/>
          <p:nvPr/>
        </p:nvSpPr>
        <p:spPr>
          <a:xfrm flipV="1">
            <a:off x="4389120" y="2395728"/>
            <a:ext cx="1280160" cy="1490472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0" name="arrow"/>
          <p:cNvSpPr/>
          <p:nvPr/>
        </p:nvSpPr>
        <p:spPr>
          <a:xfrm>
            <a:off x="8321040" y="2395728"/>
            <a:ext cx="1143000" cy="1490472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1" name="team-1"/>
          <p:cNvSpPr/>
          <p:nvPr/>
        </p:nvSpPr>
        <p:spPr>
          <a:xfrm>
            <a:off x="5669280" y="3291840"/>
            <a:ext cx="2651760" cy="1143000"/>
          </a:xfrm>
          <a:prstGeom prst="roundRect">
            <a:avLst>
              <a:gd name="adj" fmla="val 6400"/>
            </a:avLst>
          </a:prstGeom>
          <a:solidFill>
            <a:srgbClr val="E8562A"/>
          </a:solidFill>
          <a:ln w="12700">
            <a:solidFill>
              <a:srgbClr val="E8562A"/>
            </a:solidFill>
            <a:prstDash val="solid"/>
          </a:ln>
        </p:spPr>
      </p:sp>
      <p:sp>
        <p:nvSpPr>
          <p:cNvPr id="22" name="team-1-text"/>
          <p:cNvSpPr txBox="1"/>
          <p:nvPr/>
        </p:nvSpPr>
        <p:spPr>
          <a:xfrm>
            <a:off x="5669280" y="3291840"/>
            <a:ext cx="265176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Billing team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billing-service</a:t>
            </a:r>
            <a:endParaRPr lang="en-US" sz="1400" dirty="0"/>
          </a:p>
        </p:txBody>
      </p:sp>
      <p:sp>
        <p:nvSpPr>
          <p:cNvPr id="23" name="arrow"/>
          <p:cNvSpPr/>
          <p:nvPr/>
        </p:nvSpPr>
        <p:spPr>
          <a:xfrm flipV="1">
            <a:off x="4389120" y="3858768"/>
            <a:ext cx="1280160" cy="27432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4" name="arrow"/>
          <p:cNvSpPr/>
          <p:nvPr/>
        </p:nvSpPr>
        <p:spPr>
          <a:xfrm>
            <a:off x="8321040" y="3858768"/>
            <a:ext cx="1143000" cy="27432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5" name="team-2"/>
          <p:cNvSpPr/>
          <p:nvPr/>
        </p:nvSpPr>
        <p:spPr>
          <a:xfrm>
            <a:off x="5669280" y="4754880"/>
            <a:ext cx="2651760" cy="1143000"/>
          </a:xfrm>
          <a:prstGeom prst="roundRect">
            <a:avLst>
              <a:gd name="adj" fmla="val 6400"/>
            </a:avLst>
          </a:prstGeom>
          <a:solidFill>
            <a:srgbClr val="E8562A"/>
          </a:solidFill>
          <a:ln w="12700">
            <a:solidFill>
              <a:srgbClr val="E8562A"/>
            </a:solidFill>
            <a:prstDash val="solid"/>
          </a:ln>
        </p:spPr>
      </p:sp>
      <p:sp>
        <p:nvSpPr>
          <p:cNvPr id="26" name="team-2-text"/>
          <p:cNvSpPr txBox="1"/>
          <p:nvPr/>
        </p:nvSpPr>
        <p:spPr>
          <a:xfrm>
            <a:off x="5669280" y="4754880"/>
            <a:ext cx="265176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Any new team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idp new-service</a:t>
            </a:r>
            <a:endParaRPr lang="en-US" sz="1400" dirty="0"/>
          </a:p>
        </p:txBody>
      </p:sp>
      <p:sp>
        <p:nvSpPr>
          <p:cNvPr id="27" name="arrow"/>
          <p:cNvSpPr/>
          <p:nvPr/>
        </p:nvSpPr>
        <p:spPr>
          <a:xfrm>
            <a:off x="4389120" y="3886200"/>
            <a:ext cx="1280160" cy="1435608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8" name="arrow"/>
          <p:cNvSpPr/>
          <p:nvPr/>
        </p:nvSpPr>
        <p:spPr>
          <a:xfrm flipV="1">
            <a:off x="8321040" y="3886200"/>
            <a:ext cx="1143000" cy="1435608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9" name="aws"/>
          <p:cNvSpPr/>
          <p:nvPr/>
        </p:nvSpPr>
        <p:spPr>
          <a:xfrm>
            <a:off x="9464040" y="3017520"/>
            <a:ext cx="2148840" cy="1737360"/>
          </a:xfrm>
          <a:prstGeom prst="roundRect">
            <a:avLst>
              <a:gd name="adj" fmla="val 4211"/>
            </a:avLst>
          </a:prstGeom>
          <a:solidFill>
            <a:srgbClr val="0F9D8F"/>
          </a:solidFill>
          <a:ln w="12700">
            <a:solidFill>
              <a:srgbClr val="0F9D8F"/>
            </a:solidFill>
            <a:prstDash val="solid"/>
          </a:ln>
        </p:spPr>
      </p:sp>
      <p:sp>
        <p:nvSpPr>
          <p:cNvPr id="30" name="aws-text"/>
          <p:cNvSpPr txBox="1"/>
          <p:nvPr/>
        </p:nvSpPr>
        <p:spPr>
          <a:xfrm>
            <a:off x="9464040" y="3017520"/>
            <a:ext cx="2148840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AWS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ECS Fargate · RDS · ECR · S3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4480560" y="580644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Teams consume pinned versions (uses: …@tag, source = …?ref=)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app: Inventory Management System</a:t>
            </a:r>
            <a:endParaRPr lang="en-US" sz="32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10515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A real product that proves the platform end to end: Python 3.12 · Flask · SQLAlchemy · PostgreSQL · gunicorn</a:t>
            </a:r>
            <a:endParaRPr lang="en-US" sz="1600" dirty="0"/>
          </a:p>
        </p:txBody>
      </p:sp>
      <p:sp>
        <p:nvSpPr>
          <p:cNvPr id="4" name="icon-circle"/>
          <p:cNvSpPr/>
          <p:nvPr/>
        </p:nvSpPr>
        <p:spPr>
          <a:xfrm>
            <a:off x="548640" y="1737360"/>
            <a:ext cx="731520" cy="731520"/>
          </a:xfrm>
          <a:prstGeom prst="ellipse">
            <a:avLst/>
          </a:prstGeom>
          <a:solidFill>
            <a:srgbClr val="E8562A"/>
          </a:solidFill>
          <a:ln w="12700">
            <a:solidFill>
              <a:srgbClr val="E8562A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92024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71907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Products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463040" y="208483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CRUD + PATCH, search, filter, sort, pagination</a:t>
            </a:r>
            <a:endParaRPr lang="en-US" sz="1400" dirty="0"/>
          </a:p>
        </p:txBody>
      </p:sp>
      <p:sp>
        <p:nvSpPr>
          <p:cNvPr id="8" name="icon-circle"/>
          <p:cNvSpPr/>
          <p:nvPr/>
        </p:nvSpPr>
        <p:spPr>
          <a:xfrm>
            <a:off x="548640" y="2816352"/>
            <a:ext cx="731520" cy="731520"/>
          </a:xfrm>
          <a:prstGeom prst="ellipse">
            <a:avLst/>
          </a:prstGeom>
          <a:solidFill>
            <a:srgbClr val="E8562A"/>
          </a:solidFill>
          <a:ln w="12700">
            <a:solidFill>
              <a:srgbClr val="E8562A"/>
            </a:solidFill>
            <a:prstDash val="solid"/>
          </a:ln>
        </p:spPr>
      </p:sp>
      <p:pic>
        <p:nvPicPr>
          <p:cNvPr id="9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999232"/>
            <a:ext cx="365760" cy="3657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63040" y="279806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Cart &amp; checkout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1463040" y="316382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Stock-checked cart; checkout decrements stock</a:t>
            </a:r>
            <a:endParaRPr lang="en-US" sz="1400" dirty="0"/>
          </a:p>
        </p:txBody>
      </p:sp>
      <p:sp>
        <p:nvSpPr>
          <p:cNvPr id="12" name="icon-circle"/>
          <p:cNvSpPr/>
          <p:nvPr/>
        </p:nvSpPr>
        <p:spPr>
          <a:xfrm>
            <a:off x="548640" y="3895344"/>
            <a:ext cx="731520" cy="731520"/>
          </a:xfrm>
          <a:prstGeom prst="ellipse">
            <a:avLst/>
          </a:prstGeom>
          <a:solidFill>
            <a:srgbClr val="E8562A"/>
          </a:solidFill>
          <a:ln w="12700">
            <a:solidFill>
              <a:srgbClr val="E8562A"/>
            </a:solidFill>
            <a:prstDash val="solid"/>
          </a:ln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078224"/>
            <a:ext cx="365760" cy="36576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63040" y="387705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Orders &amp; stats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1463040" y="424281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Order history, inventory value, low-stock alerts</a:t>
            </a:r>
            <a:endParaRPr lang="en-US" sz="1400" dirty="0"/>
          </a:p>
        </p:txBody>
      </p:sp>
      <p:sp>
        <p:nvSpPr>
          <p:cNvPr id="16" name="icon-circle"/>
          <p:cNvSpPr/>
          <p:nvPr/>
        </p:nvSpPr>
        <p:spPr>
          <a:xfrm>
            <a:off x="548640" y="4974336"/>
            <a:ext cx="731520" cy="731520"/>
          </a:xfrm>
          <a:prstGeom prst="ellipse">
            <a:avLst/>
          </a:prstGeom>
          <a:solidFill>
            <a:srgbClr val="E8562A"/>
          </a:solidFill>
          <a:ln w="12700">
            <a:solidFill>
              <a:srgbClr val="E8562A"/>
            </a:solidFill>
            <a:prstDash val="solid"/>
          </a:ln>
        </p:spPr>
      </p:sp>
      <p:pic>
        <p:nvPicPr>
          <p:cNvPr id="17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5157216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463040" y="49560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API-key protection</a:t>
            </a:r>
            <a:endParaRPr lang="en-US" sz="1800" dirty="0"/>
          </a:p>
        </p:txBody>
      </p:sp>
      <p:sp>
        <p:nvSpPr>
          <p:cNvPr id="19" name="Text 13"/>
          <p:cNvSpPr txBox="1"/>
          <p:nvPr/>
        </p:nvSpPr>
        <p:spPr>
          <a:xfrm>
            <a:off x="1463040" y="532180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X-API-Key required for product writes</a:t>
            </a:r>
            <a:endParaRPr lang="en-US" sz="1400" dirty="0"/>
          </a:p>
        </p:txBody>
      </p:sp>
      <p:sp>
        <p:nvSpPr>
          <p:cNvPr id="20" name="stack-card"/>
          <p:cNvSpPr/>
          <p:nvPr/>
        </p:nvSpPr>
        <p:spPr>
          <a:xfrm>
            <a:off x="6035040" y="1737360"/>
            <a:ext cx="5577840" cy="4297680"/>
          </a:xfrm>
          <a:prstGeom prst="roundRect">
            <a:avLst>
              <a:gd name="adj" fmla="val 2553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6355080" y="19202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Request path</a:t>
            </a:r>
            <a:endParaRPr lang="en-US" sz="1600" dirty="0"/>
          </a:p>
        </p:txBody>
      </p:sp>
      <p:sp>
        <p:nvSpPr>
          <p:cNvPr id="22" name="layer-0"/>
          <p:cNvSpPr/>
          <p:nvPr/>
        </p:nvSpPr>
        <p:spPr>
          <a:xfrm>
            <a:off x="6355080" y="2423160"/>
            <a:ext cx="4937760" cy="640080"/>
          </a:xfrm>
          <a:prstGeom prst="roundRect">
            <a:avLst>
              <a:gd name="adj" fmla="val 11429"/>
            </a:avLst>
          </a:prstGeom>
          <a:solidFill>
            <a:srgbClr val="E8562A"/>
          </a:solidFill>
          <a:ln w="12700">
            <a:solidFill>
              <a:srgbClr val="E8562A"/>
            </a:solidFill>
            <a:prstDash val="solid"/>
          </a:ln>
        </p:spPr>
      </p:sp>
      <p:sp>
        <p:nvSpPr>
          <p:cNvPr id="23" name="layer-0-text"/>
          <p:cNvSpPr txBox="1"/>
          <p:nvPr/>
        </p:nvSpPr>
        <p:spPr>
          <a:xfrm>
            <a:off x="6355080" y="2423160"/>
            <a:ext cx="493776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Browser UI  /  API clients</a:t>
            </a:r>
            <a:endParaRPr lang="en-US" sz="1400" dirty="0"/>
          </a:p>
        </p:txBody>
      </p:sp>
      <p:sp>
        <p:nvSpPr>
          <p:cNvPr id="24" name="arrow"/>
          <p:cNvSpPr/>
          <p:nvPr/>
        </p:nvSpPr>
        <p:spPr>
          <a:xfrm>
            <a:off x="8823960" y="3063240"/>
            <a:ext cx="914" cy="228600"/>
          </a:xfrm>
          <a:prstGeom prst="line">
            <a:avLst/>
          </a:prstGeom>
          <a:noFill/>
          <a:ln w="22225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25" name="layer-1"/>
          <p:cNvSpPr/>
          <p:nvPr/>
        </p:nvSpPr>
        <p:spPr>
          <a:xfrm>
            <a:off x="6355080" y="3291840"/>
            <a:ext cx="4937760" cy="640080"/>
          </a:xfrm>
          <a:prstGeom prst="roundRect">
            <a:avLst>
              <a:gd name="adj" fmla="val 11429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layer-1-text"/>
          <p:cNvSpPr txBox="1"/>
          <p:nvPr/>
        </p:nvSpPr>
        <p:spPr>
          <a:xfrm>
            <a:off x="6355080" y="3291840"/>
            <a:ext cx="493776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gunicorn  →  Flask app  (/api/v1 blueprint)</a:t>
            </a:r>
            <a:endParaRPr lang="en-US" sz="1400" dirty="0"/>
          </a:p>
        </p:txBody>
      </p:sp>
      <p:sp>
        <p:nvSpPr>
          <p:cNvPr id="27" name="arrow"/>
          <p:cNvSpPr/>
          <p:nvPr/>
        </p:nvSpPr>
        <p:spPr>
          <a:xfrm>
            <a:off x="8823960" y="3931920"/>
            <a:ext cx="914" cy="228600"/>
          </a:xfrm>
          <a:prstGeom prst="line">
            <a:avLst/>
          </a:prstGeom>
          <a:noFill/>
          <a:ln w="22225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28" name="layer-2"/>
          <p:cNvSpPr/>
          <p:nvPr/>
        </p:nvSpPr>
        <p:spPr>
          <a:xfrm>
            <a:off x="6355080" y="4160520"/>
            <a:ext cx="4937760" cy="640080"/>
          </a:xfrm>
          <a:prstGeom prst="roundRect">
            <a:avLst>
              <a:gd name="adj" fmla="val 11429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9" name="layer-2-text"/>
          <p:cNvSpPr txBox="1"/>
          <p:nvPr/>
        </p:nvSpPr>
        <p:spPr>
          <a:xfrm>
            <a:off x="6355080" y="4160520"/>
            <a:ext cx="493776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marshmallow validation  ·  SQLAlchemy ORM</a:t>
            </a:r>
            <a:endParaRPr lang="en-US" sz="1400" dirty="0"/>
          </a:p>
        </p:txBody>
      </p:sp>
      <p:sp>
        <p:nvSpPr>
          <p:cNvPr id="30" name="arrow"/>
          <p:cNvSpPr/>
          <p:nvPr/>
        </p:nvSpPr>
        <p:spPr>
          <a:xfrm>
            <a:off x="8823960" y="4800600"/>
            <a:ext cx="914" cy="228600"/>
          </a:xfrm>
          <a:prstGeom prst="line">
            <a:avLst/>
          </a:prstGeom>
          <a:noFill/>
          <a:ln w="22225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31" name="layer-3"/>
          <p:cNvSpPr/>
          <p:nvPr/>
        </p:nvSpPr>
        <p:spPr>
          <a:xfrm>
            <a:off x="6355080" y="5029200"/>
            <a:ext cx="4937760" cy="640080"/>
          </a:xfrm>
          <a:prstGeom prst="roundRect">
            <a:avLst>
              <a:gd name="adj" fmla="val 11429"/>
            </a:avLst>
          </a:prstGeom>
          <a:solidFill>
            <a:srgbClr val="0F9D8F"/>
          </a:solidFill>
          <a:ln w="12700">
            <a:solidFill>
              <a:srgbClr val="0F9D8F"/>
            </a:solidFill>
            <a:prstDash val="solid"/>
          </a:ln>
        </p:spPr>
      </p:sp>
      <p:sp>
        <p:nvSpPr>
          <p:cNvPr id="32" name="layer-3-text"/>
          <p:cNvSpPr txBox="1"/>
          <p:nvPr/>
        </p:nvSpPr>
        <p:spPr>
          <a:xfrm>
            <a:off x="6355080" y="5029200"/>
            <a:ext cx="493776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PostgreSQL 16  (SQLite for tests)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reusable CI/CD pipeline with security gates</a:t>
            </a:r>
            <a:endParaRPr lang="en-US" sz="32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10515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A caller workflow is ~20 lines; every stage lives in the platform's reusable workflows</a:t>
            </a:r>
            <a:endParaRPr lang="en-US" sz="1600" dirty="0"/>
          </a:p>
        </p:txBody>
      </p:sp>
      <p:sp>
        <p:nvSpPr>
          <p:cNvPr id="4" name="stage-0"/>
          <p:cNvSpPr/>
          <p:nvPr/>
        </p:nvSpPr>
        <p:spPr>
          <a:xfrm>
            <a:off x="548640" y="2011680"/>
            <a:ext cx="1371600" cy="1188720"/>
          </a:xfrm>
          <a:prstGeom prst="roundRect">
            <a:avLst>
              <a:gd name="adj" fmla="val 6154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stage-0-text"/>
          <p:cNvSpPr txBox="1"/>
          <p:nvPr/>
        </p:nvSpPr>
        <p:spPr>
          <a:xfrm>
            <a:off x="548640" y="2011680"/>
            <a:ext cx="137160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Lint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ruff</a:t>
            </a:r>
            <a:endParaRPr lang="en-US" sz="1400" dirty="0"/>
          </a:p>
        </p:txBody>
      </p:sp>
      <p:sp>
        <p:nvSpPr>
          <p:cNvPr id="6" name="arrow"/>
          <p:cNvSpPr/>
          <p:nvPr/>
        </p:nvSpPr>
        <p:spPr>
          <a:xfrm>
            <a:off x="1920240" y="2606040"/>
            <a:ext cx="256032" cy="914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7" name="stage-1"/>
          <p:cNvSpPr/>
          <p:nvPr/>
        </p:nvSpPr>
        <p:spPr>
          <a:xfrm>
            <a:off x="2176272" y="2011680"/>
            <a:ext cx="1371600" cy="1188720"/>
          </a:xfrm>
          <a:prstGeom prst="roundRect">
            <a:avLst>
              <a:gd name="adj" fmla="val 6154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stage-1-text"/>
          <p:cNvSpPr txBox="1"/>
          <p:nvPr/>
        </p:nvSpPr>
        <p:spPr>
          <a:xfrm>
            <a:off x="2176272" y="2011680"/>
            <a:ext cx="137160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Test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pytest</a:t>
            </a:r>
            <a:endParaRPr lang="en-US" sz="1400" dirty="0"/>
          </a:p>
        </p:txBody>
      </p:sp>
      <p:sp>
        <p:nvSpPr>
          <p:cNvPr id="9" name="arrow"/>
          <p:cNvSpPr/>
          <p:nvPr/>
        </p:nvSpPr>
        <p:spPr>
          <a:xfrm>
            <a:off x="3547872" y="2606040"/>
            <a:ext cx="256032" cy="914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0" name="stage-2"/>
          <p:cNvSpPr/>
          <p:nvPr/>
        </p:nvSpPr>
        <p:spPr>
          <a:xfrm>
            <a:off x="3803904" y="2011680"/>
            <a:ext cx="1371600" cy="1188720"/>
          </a:xfrm>
          <a:prstGeom prst="roundRect">
            <a:avLst>
              <a:gd name="adj" fmla="val 6154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stage-2-text"/>
          <p:cNvSpPr txBox="1"/>
          <p:nvPr/>
        </p:nvSpPr>
        <p:spPr>
          <a:xfrm>
            <a:off x="3803904" y="2011680"/>
            <a:ext cx="137160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Build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buildx image</a:t>
            </a:r>
            <a:endParaRPr lang="en-US" sz="1400" dirty="0"/>
          </a:p>
        </p:txBody>
      </p:sp>
      <p:sp>
        <p:nvSpPr>
          <p:cNvPr id="12" name="arrow"/>
          <p:cNvSpPr/>
          <p:nvPr/>
        </p:nvSpPr>
        <p:spPr>
          <a:xfrm>
            <a:off x="5175504" y="2606040"/>
            <a:ext cx="256032" cy="914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3" name="stage-3"/>
          <p:cNvSpPr/>
          <p:nvPr/>
        </p:nvSpPr>
        <p:spPr>
          <a:xfrm>
            <a:off x="5431536" y="2011680"/>
            <a:ext cx="1371600" cy="1188720"/>
          </a:xfrm>
          <a:prstGeom prst="roundRect">
            <a:avLst>
              <a:gd name="adj" fmla="val 6154"/>
            </a:avLst>
          </a:prstGeom>
          <a:solidFill>
            <a:srgbClr val="E8562A"/>
          </a:solidFill>
          <a:ln w="12700">
            <a:solidFill>
              <a:srgbClr val="E8562A"/>
            </a:solidFill>
            <a:prstDash val="solid"/>
          </a:ln>
        </p:spPr>
      </p:sp>
      <p:sp>
        <p:nvSpPr>
          <p:cNvPr id="14" name="stage-3-text"/>
          <p:cNvSpPr txBox="1"/>
          <p:nvPr/>
        </p:nvSpPr>
        <p:spPr>
          <a:xfrm>
            <a:off x="5431536" y="2011680"/>
            <a:ext cx="137160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Secrets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Gitleaks</a:t>
            </a:r>
            <a:endParaRPr lang="en-US" sz="1400" dirty="0"/>
          </a:p>
        </p:txBody>
      </p:sp>
      <p:sp>
        <p:nvSpPr>
          <p:cNvPr id="15" name="arrow"/>
          <p:cNvSpPr/>
          <p:nvPr/>
        </p:nvSpPr>
        <p:spPr>
          <a:xfrm>
            <a:off x="6803136" y="2606040"/>
            <a:ext cx="256032" cy="914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6" name="stage-4"/>
          <p:cNvSpPr/>
          <p:nvPr/>
        </p:nvSpPr>
        <p:spPr>
          <a:xfrm>
            <a:off x="7059168" y="2011680"/>
            <a:ext cx="1371600" cy="1188720"/>
          </a:xfrm>
          <a:prstGeom prst="roundRect">
            <a:avLst>
              <a:gd name="adj" fmla="val 6154"/>
            </a:avLst>
          </a:prstGeom>
          <a:solidFill>
            <a:srgbClr val="E8562A"/>
          </a:solidFill>
          <a:ln w="12700">
            <a:solidFill>
              <a:srgbClr val="E8562A"/>
            </a:solidFill>
            <a:prstDash val="solid"/>
          </a:ln>
        </p:spPr>
      </p:sp>
      <p:sp>
        <p:nvSpPr>
          <p:cNvPr id="17" name="stage-4-text"/>
          <p:cNvSpPr txBox="1"/>
          <p:nvPr/>
        </p:nvSpPr>
        <p:spPr>
          <a:xfrm>
            <a:off x="7059168" y="2011680"/>
            <a:ext cx="137160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Vulns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Trivy fs + image</a:t>
            </a:r>
            <a:endParaRPr lang="en-US" sz="1400" dirty="0"/>
          </a:p>
        </p:txBody>
      </p:sp>
      <p:sp>
        <p:nvSpPr>
          <p:cNvPr id="18" name="arrow"/>
          <p:cNvSpPr/>
          <p:nvPr/>
        </p:nvSpPr>
        <p:spPr>
          <a:xfrm>
            <a:off x="8430768" y="2606040"/>
            <a:ext cx="256032" cy="914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9" name="stage-5"/>
          <p:cNvSpPr/>
          <p:nvPr/>
        </p:nvSpPr>
        <p:spPr>
          <a:xfrm>
            <a:off x="8686800" y="2011680"/>
            <a:ext cx="1371600" cy="1188720"/>
          </a:xfrm>
          <a:prstGeom prst="roundRect">
            <a:avLst>
              <a:gd name="adj" fmla="val 6154"/>
            </a:avLst>
          </a:prstGeom>
          <a:solidFill>
            <a:srgbClr val="E8562A"/>
          </a:solidFill>
          <a:ln w="12700">
            <a:solidFill>
              <a:srgbClr val="E8562A"/>
            </a:solidFill>
            <a:prstDash val="solid"/>
          </a:ln>
        </p:spPr>
      </p:sp>
      <p:sp>
        <p:nvSpPr>
          <p:cNvPr id="20" name="stage-5-text"/>
          <p:cNvSpPr txBox="1"/>
          <p:nvPr/>
        </p:nvSpPr>
        <p:spPr>
          <a:xfrm>
            <a:off x="8686800" y="2011680"/>
            <a:ext cx="137160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IaC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Checkov</a:t>
            </a:r>
            <a:endParaRPr lang="en-US" sz="1400" dirty="0"/>
          </a:p>
        </p:txBody>
      </p:sp>
      <p:sp>
        <p:nvSpPr>
          <p:cNvPr id="21" name="arrow"/>
          <p:cNvSpPr/>
          <p:nvPr/>
        </p:nvSpPr>
        <p:spPr>
          <a:xfrm>
            <a:off x="10058400" y="2606040"/>
            <a:ext cx="256032" cy="914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2" name="stage-6"/>
          <p:cNvSpPr/>
          <p:nvPr/>
        </p:nvSpPr>
        <p:spPr>
          <a:xfrm>
            <a:off x="10314432" y="2011680"/>
            <a:ext cx="1371600" cy="1188720"/>
          </a:xfrm>
          <a:prstGeom prst="roundRect">
            <a:avLst>
              <a:gd name="adj" fmla="val 6154"/>
            </a:avLst>
          </a:prstGeom>
          <a:solidFill>
            <a:srgbClr val="0F9D8F"/>
          </a:solidFill>
          <a:ln w="12700">
            <a:solidFill>
              <a:srgbClr val="0F9D8F"/>
            </a:solidFill>
            <a:prstDash val="solid"/>
          </a:ln>
        </p:spPr>
      </p:sp>
      <p:sp>
        <p:nvSpPr>
          <p:cNvPr id="23" name="stage-6-text"/>
          <p:cNvSpPr txBox="1"/>
          <p:nvPr/>
        </p:nvSpPr>
        <p:spPr>
          <a:xfrm>
            <a:off x="10314432" y="2011680"/>
            <a:ext cx="137160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Terraform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fmt · validate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3291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reusable-ci.yml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431536" y="3291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reusable-security-scan.yml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0314432" y="32918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reusable-terraform.yml</a:t>
            </a:r>
            <a:endParaRPr lang="en-US" sz="1100" dirty="0"/>
          </a:p>
        </p:txBody>
      </p:sp>
      <p:sp>
        <p:nvSpPr>
          <p:cNvPr id="27" name="card"/>
          <p:cNvSpPr/>
          <p:nvPr/>
        </p:nvSpPr>
        <p:spPr>
          <a:xfrm>
            <a:off x="548640" y="3977640"/>
            <a:ext cx="539496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77240" y="4114800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Shared by every team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Inputs: app_dir, python_version, image_name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Fix a stage once and every caller gets it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SARIF reports kept as build artifacts</a:t>
            </a:r>
            <a:endParaRPr lang="en-US" sz="1400" dirty="0"/>
          </a:p>
        </p:txBody>
      </p:sp>
      <p:sp>
        <p:nvSpPr>
          <p:cNvPr id="29" name="card"/>
          <p:cNvSpPr/>
          <p:nvPr/>
        </p:nvSpPr>
        <p:spPr>
          <a:xfrm>
            <a:off x="6217920" y="3977640"/>
            <a:ext cx="539496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46520" y="4114800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Same gates locally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idp ci  →  lint, test, build and scan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idp scan  →  Gitleaks, Trivy, Checkov in containers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idp tf-validate  →  fmt + validate on every module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target architecture from shared modules</a:t>
            </a:r>
            <a:endParaRPr lang="en-US" sz="32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10515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infrastructure/environments/dev composes six reusable Terraform modules</a:t>
            </a:r>
            <a:endParaRPr lang="en-US" sz="1600" dirty="0"/>
          </a:p>
        </p:txBody>
      </p:sp>
      <p:sp>
        <p:nvSpPr>
          <p:cNvPr id="4" name="vpc"/>
          <p:cNvSpPr/>
          <p:nvPr/>
        </p:nvSpPr>
        <p:spPr>
          <a:xfrm>
            <a:off x="548640" y="1691640"/>
            <a:ext cx="8229600" cy="4434840"/>
          </a:xfrm>
          <a:prstGeom prst="roundRect">
            <a:avLst>
              <a:gd name="adj" fmla="val 1649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vpc-text"/>
          <p:cNvSpPr txBox="1"/>
          <p:nvPr/>
        </p:nvSpPr>
        <p:spPr>
          <a:xfrm>
            <a:off x="548640" y="1691640"/>
            <a:ext cx="8229600" cy="4434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7830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VPC  (networking module) — public + private subnets across 2 AZs</a:t>
            </a:r>
            <a:endParaRPr lang="en-US" sz="1400" dirty="0"/>
          </a:p>
        </p:txBody>
      </p:sp>
      <p:sp>
        <p:nvSpPr>
          <p:cNvPr id="7" name="alb"/>
          <p:cNvSpPr/>
          <p:nvPr/>
        </p:nvSpPr>
        <p:spPr>
          <a:xfrm>
            <a:off x="868680" y="2560320"/>
            <a:ext cx="2194560" cy="1097280"/>
          </a:xfrm>
          <a:prstGeom prst="roundRect">
            <a:avLst>
              <a:gd name="adj" fmla="val 6667"/>
            </a:avLst>
          </a:prstGeom>
          <a:solidFill>
            <a:srgbClr val="E8562A"/>
          </a:solidFill>
          <a:ln w="12700">
            <a:solidFill>
              <a:srgbClr val="E8562A"/>
            </a:solidFill>
            <a:prstDash val="solid"/>
          </a:ln>
        </p:spPr>
      </p:sp>
      <p:sp>
        <p:nvSpPr>
          <p:cNvPr id="8" name="alb-text"/>
          <p:cNvSpPr txBox="1"/>
          <p:nvPr/>
        </p:nvSpPr>
        <p:spPr>
          <a:xfrm>
            <a:off x="868680" y="2560320"/>
            <a:ext cx="219456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Application Load Balancer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public subnets</a:t>
            </a:r>
            <a:endParaRPr lang="en-US" sz="1400" dirty="0"/>
          </a:p>
        </p:txBody>
      </p:sp>
      <p:sp>
        <p:nvSpPr>
          <p:cNvPr id="9" name="ecs"/>
          <p:cNvSpPr/>
          <p:nvPr/>
        </p:nvSpPr>
        <p:spPr>
          <a:xfrm>
            <a:off x="3657600" y="2560320"/>
            <a:ext cx="2194560" cy="1097280"/>
          </a:xfrm>
          <a:prstGeom prst="roundRect">
            <a:avLst>
              <a:gd name="adj" fmla="val 6667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0" name="ecs-text"/>
          <p:cNvSpPr txBox="1"/>
          <p:nvPr/>
        </p:nvSpPr>
        <p:spPr>
          <a:xfrm>
            <a:off x="3657600" y="2560320"/>
            <a:ext cx="219456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ECS Fargate service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IMS container :3000</a:t>
            </a:r>
            <a:endParaRPr lang="en-US" sz="1400" dirty="0"/>
          </a:p>
        </p:txBody>
      </p:sp>
      <p:sp>
        <p:nvSpPr>
          <p:cNvPr id="11" name="rds"/>
          <p:cNvSpPr/>
          <p:nvPr/>
        </p:nvSpPr>
        <p:spPr>
          <a:xfrm>
            <a:off x="6446520" y="2560320"/>
            <a:ext cx="2103120" cy="1097280"/>
          </a:xfrm>
          <a:prstGeom prst="roundRect">
            <a:avLst>
              <a:gd name="adj" fmla="val 6667"/>
            </a:avLst>
          </a:prstGeom>
          <a:solidFill>
            <a:srgbClr val="0F9D8F"/>
          </a:solidFill>
          <a:ln w="12700">
            <a:solidFill>
              <a:srgbClr val="0F9D8F"/>
            </a:solidFill>
            <a:prstDash val="solid"/>
          </a:ln>
        </p:spPr>
      </p:sp>
      <p:sp>
        <p:nvSpPr>
          <p:cNvPr id="12" name="rds-text"/>
          <p:cNvSpPr txBox="1"/>
          <p:nvPr/>
        </p:nvSpPr>
        <p:spPr>
          <a:xfrm>
            <a:off x="6446520" y="2560320"/>
            <a:ext cx="210312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RDS PostgreSQL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private subnets</a:t>
            </a:r>
            <a:endParaRPr lang="en-US" sz="1400" dirty="0"/>
          </a:p>
        </p:txBody>
      </p:sp>
      <p:sp>
        <p:nvSpPr>
          <p:cNvPr id="13" name="arrow"/>
          <p:cNvSpPr/>
          <p:nvPr/>
        </p:nvSpPr>
        <p:spPr>
          <a:xfrm>
            <a:off x="3063240" y="3108960"/>
            <a:ext cx="594360" cy="914"/>
          </a:xfrm>
          <a:prstGeom prst="line">
            <a:avLst/>
          </a:prstGeom>
          <a:noFill/>
          <a:ln w="22225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14" name="arrow"/>
          <p:cNvSpPr/>
          <p:nvPr/>
        </p:nvSpPr>
        <p:spPr>
          <a:xfrm>
            <a:off x="5852160" y="3108960"/>
            <a:ext cx="594360" cy="914"/>
          </a:xfrm>
          <a:prstGeom prst="line">
            <a:avLst/>
          </a:prstGeom>
          <a:noFill/>
          <a:ln w="22225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15" name="sg"/>
          <p:cNvSpPr/>
          <p:nvPr/>
        </p:nvSpPr>
        <p:spPr>
          <a:xfrm>
            <a:off x="868680" y="4251960"/>
            <a:ext cx="2194560" cy="109728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sg-text"/>
          <p:cNvSpPr txBox="1"/>
          <p:nvPr/>
        </p:nvSpPr>
        <p:spPr>
          <a:xfrm>
            <a:off x="868680" y="4251960"/>
            <a:ext cx="219456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Security groups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ALB → app → DB only</a:t>
            </a:r>
            <a:endParaRPr lang="en-US" sz="1400" dirty="0"/>
          </a:p>
        </p:txBody>
      </p:sp>
      <p:sp>
        <p:nvSpPr>
          <p:cNvPr id="17" name="iam"/>
          <p:cNvSpPr/>
          <p:nvPr/>
        </p:nvSpPr>
        <p:spPr>
          <a:xfrm>
            <a:off x="3657600" y="4251960"/>
            <a:ext cx="2194560" cy="109728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iam-text"/>
          <p:cNvSpPr txBox="1"/>
          <p:nvPr/>
        </p:nvSpPr>
        <p:spPr>
          <a:xfrm>
            <a:off x="3657600" y="4251960"/>
            <a:ext cx="219456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IAM app role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least privilege</a:t>
            </a:r>
            <a:endParaRPr lang="en-US" sz="1400" dirty="0"/>
          </a:p>
        </p:txBody>
      </p:sp>
      <p:sp>
        <p:nvSpPr>
          <p:cNvPr id="19" name="secrets"/>
          <p:cNvSpPr/>
          <p:nvPr/>
        </p:nvSpPr>
        <p:spPr>
          <a:xfrm>
            <a:off x="6446520" y="4251960"/>
            <a:ext cx="2103120" cy="109728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secrets-text"/>
          <p:cNvSpPr txBox="1"/>
          <p:nvPr/>
        </p:nvSpPr>
        <p:spPr>
          <a:xfrm>
            <a:off x="6446520" y="4251960"/>
            <a:ext cx="210312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Secrets Manager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DB credentials</a:t>
            </a:r>
            <a:endParaRPr lang="en-US" sz="1400" dirty="0"/>
          </a:p>
        </p:txBody>
      </p:sp>
      <p:sp>
        <p:nvSpPr>
          <p:cNvPr id="21" name="ecr"/>
          <p:cNvSpPr/>
          <p:nvPr/>
        </p:nvSpPr>
        <p:spPr>
          <a:xfrm>
            <a:off x="9144000" y="1691640"/>
            <a:ext cx="2468880" cy="1325880"/>
          </a:xfrm>
          <a:prstGeom prst="roundRect">
            <a:avLst>
              <a:gd name="adj" fmla="val 5517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2" name="ecr-text"/>
          <p:cNvSpPr txBox="1"/>
          <p:nvPr/>
        </p:nvSpPr>
        <p:spPr>
          <a:xfrm>
            <a:off x="9144000" y="1691640"/>
            <a:ext cx="246888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Amazon ECR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image registry · scan on push</a:t>
            </a:r>
            <a:endParaRPr lang="en-US" sz="1400" dirty="0"/>
          </a:p>
        </p:txBody>
      </p:sp>
      <p:sp>
        <p:nvSpPr>
          <p:cNvPr id="23" name="s3"/>
          <p:cNvSpPr/>
          <p:nvPr/>
        </p:nvSpPr>
        <p:spPr>
          <a:xfrm>
            <a:off x="9144000" y="3246120"/>
            <a:ext cx="2468880" cy="1325880"/>
          </a:xfrm>
          <a:prstGeom prst="roundRect">
            <a:avLst>
              <a:gd name="adj" fmla="val 5517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4" name="s3-text"/>
          <p:cNvSpPr txBox="1"/>
          <p:nvPr/>
        </p:nvSpPr>
        <p:spPr>
          <a:xfrm>
            <a:off x="9144000" y="3246120"/>
            <a:ext cx="246888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Amazon S3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encrypted · versioned</a:t>
            </a:r>
            <a:endParaRPr lang="en-US" sz="1400" dirty="0"/>
          </a:p>
        </p:txBody>
      </p:sp>
      <p:sp>
        <p:nvSpPr>
          <p:cNvPr id="25" name="local"/>
          <p:cNvSpPr/>
          <p:nvPr/>
        </p:nvSpPr>
        <p:spPr>
          <a:xfrm>
            <a:off x="9144000" y="4800600"/>
            <a:ext cx="2468880" cy="1325880"/>
          </a:xfrm>
          <a:prstGeom prst="roundRect">
            <a:avLst>
              <a:gd name="adj" fmla="val 5517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6" name="local-text"/>
          <p:cNvSpPr txBox="1"/>
          <p:nvPr/>
        </p:nvSpPr>
        <p:spPr>
          <a:xfrm>
            <a:off x="9144000" y="4800600"/>
            <a:ext cx="246888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Reproducible locally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idp up: Postgres + API in containers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DevSecOps: security shifted left at every layer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743200"/>
                <a:gridCol w="4206240"/>
                <a:gridCol w="22860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Layer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Threat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Control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Where enforced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Code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Leaked credentials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Gitleaks secret scan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CI + idp scan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Dependencies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Known CVEs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Trivy filesystem scan, pinned versions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CI + idp scan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Container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Vulnerable / over-privileged image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Trivy image scan, Alpine, non-root, pip removed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CI + Dockerfile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Infrastructure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Cloud misconfiguration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Checkov IaC scan, encrypted S3/RDS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CI + idp scan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Change control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Unreviewed changes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CODEOWNERS, PR template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GitHub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Runtime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Unauthorised writes, exposed secrets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API key, Secrets Manager, private DB subnets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App + AWS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577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1"/>
                </a:solidFill>
              </a:rPr>
              <a:t>Two real Trivy findings surfaced in CI and were fixed — see ADR-0004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Self-service CLI: the whole platform in one command</a:t>
            </a:r>
            <a:endParaRPr lang="en-US" sz="32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10515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scripts/idp.py — standard library only, runs on Windows, macOS and Linux</a:t>
            </a:r>
            <a:endParaRPr lang="en-US" sz="1600" dirty="0"/>
          </a:p>
        </p:txBody>
      </p:sp>
      <p:sp>
        <p:nvSpPr>
          <p:cNvPr id="4" name="terminal"/>
          <p:cNvSpPr/>
          <p:nvPr/>
        </p:nvSpPr>
        <p:spPr>
          <a:xfrm>
            <a:off x="548640" y="1691640"/>
            <a:ext cx="5852160" cy="4389120"/>
          </a:xfrm>
          <a:prstGeom prst="roundRect">
            <a:avLst>
              <a:gd name="adj" fmla="val 25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20240"/>
            <a:ext cx="53949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idp doctor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[ok] python  [ok] git  [ok] podman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idp new-service billing-service --git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Service 'billing-service' scaffolded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idp ci --skip-containers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ruff: All checks passed!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E9E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6 passed · Local CI pipeline passed.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idp list-services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service   app/ims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766560" y="169164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doctor · list-services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766560" y="207568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Check tooling, discover services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766560" y="258775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new-service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766560" y="2971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Scaffold a repo from the template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766560" y="3483864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bootstrap · lint · test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766560" y="386791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venv, deps, .env; CI-identical checks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766560" y="4379976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 · up · status · down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766560" y="476402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Container image and local stack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766560" y="527608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 · tf-validate · ci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766560" y="566013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Security gates, Terraform, full pipeline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Onboarding: from blank page to working service</a:t>
            </a:r>
            <a:endParaRPr lang="en-US" sz="3200" dirty="0"/>
          </a:p>
        </p:txBody>
      </p:sp>
      <p:sp>
        <p:nvSpPr>
          <p:cNvPr id="3" name="before"/>
          <p:cNvSpPr/>
          <p:nvPr/>
        </p:nvSpPr>
        <p:spPr>
          <a:xfrm>
            <a:off x="548640" y="1371600"/>
            <a:ext cx="5349240" cy="4709160"/>
          </a:xfrm>
          <a:prstGeom prst="roundRect">
            <a:avLst>
              <a:gd name="adj" fmla="val 233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" name="after"/>
          <p:cNvSpPr/>
          <p:nvPr/>
        </p:nvSpPr>
        <p:spPr>
          <a:xfrm>
            <a:off x="6263640" y="1371600"/>
            <a:ext cx="5349240" cy="4709160"/>
          </a:xfrm>
          <a:prstGeom prst="roundRect">
            <a:avLst>
              <a:gd name="adj" fmla="val 233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6002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Before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583680" y="16002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With the platform</a:t>
            </a:r>
            <a:endParaRPr lang="en-US" sz="2200" dirty="0"/>
          </a:p>
        </p:txBody>
      </p:sp>
      <p:pic>
        <p:nvPicPr>
          <p:cNvPr id="7" name="x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377440"/>
            <a:ext cx="320040" cy="3200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25880" y="23317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Copy another team's repo by hand</a:t>
            </a:r>
            <a:endParaRPr lang="en-US" sz="1600" dirty="0"/>
          </a:p>
        </p:txBody>
      </p:sp>
      <p:pic>
        <p:nvPicPr>
          <p:cNvPr id="9" name="check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37744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040880" y="23317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idp new-service &lt;name&gt;</a:t>
            </a:r>
            <a:endParaRPr lang="en-US" sz="1600" dirty="0"/>
          </a:p>
        </p:txBody>
      </p:sp>
      <p:pic>
        <p:nvPicPr>
          <p:cNvPr id="11" name="x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108960"/>
            <a:ext cx="320040" cy="32004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325880" y="30632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Rewrite CI/CD YAML from scratch</a:t>
            </a:r>
            <a:endParaRPr lang="en-US" sz="1600" dirty="0"/>
          </a:p>
        </p:txBody>
      </p:sp>
      <p:pic>
        <p:nvPicPr>
          <p:cNvPr id="13" name="check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3108960"/>
            <a:ext cx="320040" cy="32004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7040880" y="30632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~20-line caller workflows reuse platform CI</a:t>
            </a:r>
            <a:endParaRPr lang="en-US" sz="1600" dirty="0"/>
          </a:p>
        </p:txBody>
      </p:sp>
      <p:pic>
        <p:nvPicPr>
          <p:cNvPr id="15" name="x-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3840480"/>
            <a:ext cx="320040" cy="320040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325880" y="379476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Copy and adapt Terraform</a:t>
            </a:r>
            <a:endParaRPr lang="en-US" sz="1600" dirty="0"/>
          </a:p>
        </p:txBody>
      </p:sp>
      <p:pic>
        <p:nvPicPr>
          <p:cNvPr id="17" name="check-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0" y="3840480"/>
            <a:ext cx="320040" cy="320040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7040880" y="379476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Reference versioned Terraform modules</a:t>
            </a:r>
            <a:endParaRPr lang="en-US" sz="1600" dirty="0"/>
          </a:p>
        </p:txBody>
      </p:sp>
      <p:pic>
        <p:nvPicPr>
          <p:cNvPr id="19" name="x-ic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680" y="4572000"/>
            <a:ext cx="320040" cy="320040"/>
          </a:xfrm>
          <a:prstGeom prst="rect">
            <a:avLst/>
          </a:prstGeom>
        </p:spPr>
      </p:pic>
      <p:sp>
        <p:nvSpPr>
          <p:cNvPr id="20" name="Text 11"/>
          <p:cNvSpPr txBox="1"/>
          <p:nvPr/>
        </p:nvSpPr>
        <p:spPr>
          <a:xfrm>
            <a:off x="1325880" y="45262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Write AI instructions ad hoc</a:t>
            </a:r>
            <a:endParaRPr lang="en-US" sz="1600" dirty="0"/>
          </a:p>
        </p:txBody>
      </p:sp>
      <p:pic>
        <p:nvPicPr>
          <p:cNvPr id="21" name="check-icon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3680" y="4572000"/>
            <a:ext cx="320040" cy="320040"/>
          </a:xfrm>
          <a:prstGeom prst="rect">
            <a:avLst/>
          </a:prstGeom>
        </p:spPr>
      </p:pic>
      <p:sp>
        <p:nvSpPr>
          <p:cNvPr id="22" name="Text 12"/>
          <p:cNvSpPr txBox="1"/>
          <p:nvPr/>
        </p:nvSpPr>
        <p:spPr>
          <a:xfrm>
            <a:off x="7040880" y="45262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Fill in 6 standard spec templates</a:t>
            </a:r>
            <a:endParaRPr lang="en-US" sz="1600" dirty="0"/>
          </a:p>
        </p:txBody>
      </p:sp>
      <p:pic>
        <p:nvPicPr>
          <p:cNvPr id="23" name="x-icon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8680" y="5303520"/>
            <a:ext cx="320040" cy="320040"/>
          </a:xfrm>
          <a:prstGeom prst="rect">
            <a:avLst/>
          </a:prstGeom>
        </p:spPr>
      </p:pic>
      <p:sp>
        <p:nvSpPr>
          <p:cNvPr id="24" name="Text 13"/>
          <p:cNvSpPr txBox="1"/>
          <p:nvPr/>
        </p:nvSpPr>
        <p:spPr>
          <a:xfrm>
            <a:off x="1325880" y="525780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Fix security issues late, per repo</a:t>
            </a:r>
            <a:endParaRPr lang="en-US" sz="1600" dirty="0"/>
          </a:p>
        </p:txBody>
      </p:sp>
      <p:pic>
        <p:nvPicPr>
          <p:cNvPr id="25" name="check-icon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83680" y="5303520"/>
            <a:ext cx="320040" cy="320040"/>
          </a:xfrm>
          <a:prstGeom prst="rect">
            <a:avLst/>
          </a:prstGeom>
        </p:spPr>
      </p:pic>
      <p:sp>
        <p:nvSpPr>
          <p:cNvPr id="26" name="Text 14"/>
          <p:cNvSpPr txBox="1"/>
          <p:nvPr/>
        </p:nvSpPr>
        <p:spPr>
          <a:xfrm>
            <a:off x="7040880" y="525780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Security gates run from the first PR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AI Engineering Specifications</a:t>
            </a:r>
            <a:endParaRPr lang="en-US" sz="32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10515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Shared structure: purpose, requirements (MUST/SHOULD), contracts, security, acceptance criteria, agent guardrails</a:t>
            </a:r>
            <a:endParaRPr lang="en-US" sz="1600" dirty="0"/>
          </a:p>
        </p:txBody>
      </p:sp>
      <p:sp>
        <p:nvSpPr>
          <p:cNvPr id="4" name="card"/>
          <p:cNvSpPr/>
          <p:nvPr/>
        </p:nvSpPr>
        <p:spPr>
          <a:xfrm>
            <a:off x="548640" y="1783080"/>
            <a:ext cx="3474720" cy="187452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5" name="spec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057400"/>
            <a:ext cx="502920" cy="5029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651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platform-spec.md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0175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Overall IDP scope, components and IMS reference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4297680" y="1783080"/>
            <a:ext cx="3474720" cy="187452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9" name="spec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05740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572000" y="2651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terraform-modules-spec.md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4572000" y="30175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Module contracts, inputs/outputs, versioning</a:t>
            </a:r>
            <a:endParaRPr lang="en-US" sz="1400" dirty="0"/>
          </a:p>
        </p:txBody>
      </p:sp>
      <p:sp>
        <p:nvSpPr>
          <p:cNvPr id="12" name="card"/>
          <p:cNvSpPr/>
          <p:nvPr/>
        </p:nvSpPr>
        <p:spPr>
          <a:xfrm>
            <a:off x="8046720" y="1783080"/>
            <a:ext cx="3474720" cy="187452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3" name="spec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205740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321040" y="2651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workflow-spec.md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8321040" y="30175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Reusable CI, security and Terraform workflows</a:t>
            </a:r>
            <a:endParaRPr lang="en-US" sz="1400" dirty="0"/>
          </a:p>
        </p:txBody>
      </p:sp>
      <p:sp>
        <p:nvSpPr>
          <p:cNvPr id="16" name="card"/>
          <p:cNvSpPr/>
          <p:nvPr/>
        </p:nvSpPr>
        <p:spPr>
          <a:xfrm>
            <a:off x="548640" y="3931920"/>
            <a:ext cx="3474720" cy="187452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7" name="spec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206240"/>
            <a:ext cx="502920" cy="50292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22960" y="4800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repo-template-spec.md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822960" y="51663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Template layout, placeholders, onboarding</a:t>
            </a:r>
            <a:endParaRPr lang="en-US" sz="1400" dirty="0"/>
          </a:p>
        </p:txBody>
      </p:sp>
      <p:sp>
        <p:nvSpPr>
          <p:cNvPr id="20" name="card"/>
          <p:cNvSpPr/>
          <p:nvPr/>
        </p:nvSpPr>
        <p:spPr>
          <a:xfrm>
            <a:off x="4297680" y="3931920"/>
            <a:ext cx="3474720" cy="187452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21" name="spec-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4206240"/>
            <a:ext cx="502920" cy="50292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4572000" y="4800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governance-spec.md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4572000" y="51663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Ownership, reviews, security policy, gates</a:t>
            </a:r>
            <a:endParaRPr lang="en-US" sz="1400" dirty="0"/>
          </a:p>
        </p:txBody>
      </p:sp>
      <p:sp>
        <p:nvSpPr>
          <p:cNvPr id="24" name="card"/>
          <p:cNvSpPr/>
          <p:nvPr/>
        </p:nvSpPr>
        <p:spPr>
          <a:xfrm>
            <a:off x="8046720" y="3931920"/>
            <a:ext cx="3474720" cy="187452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25" name="spec-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4206240"/>
            <a:ext cx="502920" cy="50292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8321040" y="4800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developer-experience-spec.md</a:t>
            </a:r>
            <a:endParaRPr lang="en-US" sz="1600" dirty="0"/>
          </a:p>
        </p:txBody>
      </p:sp>
      <p:sp>
        <p:nvSpPr>
          <p:cNvPr id="27" name="Text 19"/>
          <p:cNvSpPr txBox="1"/>
          <p:nvPr/>
        </p:nvSpPr>
        <p:spPr>
          <a:xfrm>
            <a:off x="8321040" y="51663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idp CLI commands and local parity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engineering decisions (ADRs)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463040"/>
            <a:ext cx="2606040" cy="301752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91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ADR-0001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031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AWS + ECS Fargate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01752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Managed containers with no cluster to run; RDS for Postgres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3364992" y="1463040"/>
            <a:ext cx="2606040" cy="301752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93592" y="1691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ADR-0002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593592" y="21031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Reusable workflows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593592" y="301752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workflow_call over copy-paste or composite actions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6181344" y="1463040"/>
            <a:ext cx="2606040" cy="301752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9944" y="1691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ADR-0003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09944" y="21031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Repo template + CLI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409944" y="301752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Template repo plus scripted scaffolding instead of a heavy portal</a:t>
            </a:r>
            <a:endParaRPr lang="en-US" sz="1400" dirty="0"/>
          </a:p>
        </p:txBody>
      </p:sp>
      <p:sp>
        <p:nvSpPr>
          <p:cNvPr id="15" name="card"/>
          <p:cNvSpPr/>
          <p:nvPr/>
        </p:nvSpPr>
        <p:spPr>
          <a:xfrm>
            <a:off x="8997696" y="1463040"/>
            <a:ext cx="2606040" cy="301752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226296" y="1691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ADR-0004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9226296" y="21031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Security tooling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9226296" y="301752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Gitleaks, Trivy and Checkov as hard CI gates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846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tx2"/>
                </a:solidFill>
              </a:rPr>
              <a:t>Each ADR records Context, Problem, Decision, Alternatives, Trade-offs, Consequences and Rationale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results</a:t>
            </a:r>
            <a:endParaRPr lang="en-US" sz="32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10515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Everything below was run for real; items not yet verified are listed as such</a:t>
            </a:r>
            <a:endParaRPr lang="en-US" sz="1600" dirty="0"/>
          </a:p>
        </p:txBody>
      </p:sp>
      <p:sp>
        <p:nvSpPr>
          <p:cNvPr id="4" name="card"/>
          <p:cNvSpPr/>
          <p:nvPr/>
        </p:nvSpPr>
        <p:spPr>
          <a:xfrm>
            <a:off x="548640" y="1691640"/>
            <a:ext cx="260604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2606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E9E5B"/>
                </a:solidFill>
              </a:rPr>
              <a:t>6/6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346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IMS API tests pass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3364992" y="1691640"/>
            <a:ext cx="260604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64992" y="1783080"/>
            <a:ext cx="2606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E9E5B"/>
                </a:solidFill>
              </a:rPr>
              <a:t>1/1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3364992" y="28346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Template test passes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6181344" y="1691640"/>
            <a:ext cx="260604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81344" y="1783080"/>
            <a:ext cx="2606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E9E5B"/>
                </a:solidFill>
              </a:rPr>
              <a:t>0</a:t>
            </a:r>
            <a:endParaRPr lang="en-US" sz="5400" dirty="0"/>
          </a:p>
        </p:txBody>
      </p:sp>
      <p:sp>
        <p:nvSpPr>
          <p:cNvPr id="12" name="Text 10"/>
          <p:cNvSpPr txBox="1"/>
          <p:nvPr/>
        </p:nvSpPr>
        <p:spPr>
          <a:xfrm>
            <a:off x="6181344" y="28346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ruff lint findings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8997696" y="1691640"/>
            <a:ext cx="260604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997696" y="1783080"/>
            <a:ext cx="2606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E9E5B"/>
                </a:solidFill>
              </a:rPr>
              <a:t>100%</a:t>
            </a:r>
            <a:endParaRPr lang="en-US" sz="5400" dirty="0"/>
          </a:p>
        </p:txBody>
      </p:sp>
      <p:sp>
        <p:nvSpPr>
          <p:cNvPr id="15" name="Text 13"/>
          <p:cNvSpPr txBox="1"/>
          <p:nvPr/>
        </p:nvSpPr>
        <p:spPr>
          <a:xfrm>
            <a:off x="8997696" y="28346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workflow YAML parses</a:t>
            </a:r>
            <a:endParaRPr lang="en-US" sz="1400" dirty="0"/>
          </a:p>
        </p:txBody>
      </p:sp>
      <p:sp>
        <p:nvSpPr>
          <p:cNvPr id="16" name="card"/>
          <p:cNvSpPr/>
          <p:nvPr/>
        </p:nvSpPr>
        <p:spPr>
          <a:xfrm>
            <a:off x="548640" y="3931920"/>
            <a:ext cx="539496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4069080"/>
            <a:ext cx="5029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Also verified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idp new-service scaffolds with no placeholders left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Web UI and /health served from the container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Trivy findings from CI fixed (ADR-0004)</a:t>
            </a:r>
            <a:endParaRPr lang="en-US" sz="1400" dirty="0"/>
          </a:p>
        </p:txBody>
      </p:sp>
      <p:sp>
        <p:nvSpPr>
          <p:cNvPr id="18" name="pending-card"/>
          <p:cNvSpPr/>
          <p:nvPr/>
        </p:nvSpPr>
        <p:spPr>
          <a:xfrm>
            <a:off x="6217920" y="3931920"/>
            <a:ext cx="5394960" cy="2148840"/>
          </a:xfrm>
          <a:prstGeom prst="roundRect">
            <a:avLst>
              <a:gd name="adj" fmla="val 5106"/>
            </a:avLst>
          </a:prstGeom>
          <a:solidFill>
            <a:srgbClr val="FDF0EA"/>
          </a:solidFill>
          <a:ln w="12700">
            <a:solidFill>
              <a:srgbClr val="FDF0E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46520" y="4069080"/>
            <a:ext cx="5029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accent1"/>
                </a:solidFill>
              </a:rPr>
              <a:t>Pending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terraform validate (Terraform not installed locally)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Full CI run on GitHub after pushing the repo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Real AWS deployment (no cloud account provided)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C:\Users\samarashima.reddy\Downloads\Vinay-Capstone\app\ims\app\static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822960"/>
            <a:ext cx="1143000" cy="1143000"/>
          </a:xfrm>
          <a:prstGeom prst="ellipse">
            <a:avLst/>
          </a:prstGeom>
        </p:spPr>
      </p:pic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331720"/>
            <a:ext cx="78638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416052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Next: push to GitHub as group1-advanced, run CI on GitHub Actions, onboard a second team</a:t>
            </a:r>
            <a:endParaRPr lang="en-US" sz="1800" dirty="0"/>
          </a:p>
        </p:txBody>
      </p:sp>
      <p:sp>
        <p:nvSpPr>
          <p:cNvPr id="5" name="deco-circle"/>
          <p:cNvSpPr/>
          <p:nvPr/>
        </p:nvSpPr>
        <p:spPr>
          <a:xfrm>
            <a:off x="8778240" y="1097280"/>
            <a:ext cx="4754880" cy="475488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6" name="hero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2286000"/>
            <a:ext cx="2194560" cy="21945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IDP Capstone">
  <a:themeElements>
    <a:clrScheme name="IDP Capstone">
      <a:dk1>
        <a:srgbClr val="0F172A"/>
      </a:dk1>
      <a:lt1>
        <a:srgbClr val="FFFFFF"/>
      </a:lt1>
      <a:dk2>
        <a:srgbClr val="475569"/>
      </a:dk2>
      <a:lt2>
        <a:srgbClr val="F1F5F9"/>
      </a:lt2>
      <a:accent1>
        <a:srgbClr val="E8562A"/>
      </a:accent1>
      <a:accent2>
        <a:srgbClr val="1E293B"/>
      </a:accent2>
      <a:accent3>
        <a:srgbClr val="0F9D8F"/>
      </a:accent3>
      <a:accent4>
        <a:srgbClr val="94A3B8"/>
      </a:accent4>
      <a:accent5>
        <a:srgbClr val="F2A541"/>
      </a:accent5>
      <a:accent6>
        <a:srgbClr val="2E9E5B"/>
      </a:accent6>
      <a:hlink>
        <a:srgbClr val="E8562A"/>
      </a:hlink>
      <a:folHlink>
        <a:srgbClr val="B4431F"/>
      </a:folHlink>
    </a:clrScheme>
    <a:fontScheme name="IDP Capston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Inventory Management System - Internal Developer Platform</dc:title>
  <dc:subject>PptxGenJS Presentation</dc:subject>
  <dc:creator>group1-advanced</dc:creator>
  <cp:lastModifiedBy>group1-advanced</cp:lastModifiedBy>
  <cp:revision>1</cp:revision>
  <dcterms:created xsi:type="dcterms:W3CDTF">2026-10-10T11:00:11Z</dcterms:created>
  <dcterms:modified xsi:type="dcterms:W3CDTF">2026-10-10T11:00:11Z</dcterms:modified>
</cp:coreProperties>
</file>